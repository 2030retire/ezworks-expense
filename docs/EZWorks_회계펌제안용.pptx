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Image: Business Team Reviewing Documents in Modern Office - PresentationGO (https://www.presentationgo.com/presentation/business-team-reviewing-documents/)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Image: Upload Expense Receipts On-The-Go. Auto-Reconcile Them In Real Time. Quadient (https://www.quadient.com/en-gb/blog/upload-expense-receipts-go-auto-reconcile-them-real-time)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 | Proposal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pic>
        <p:nvPicPr>
          <p:cNvPr id="3" name="Image 0" descr="/mnt/data/accounting_meeting.jpg">    </p:cNvPr>
          <p:cNvPicPr>
            <a:picLocks noChangeAspect="1"/>
          </p:cNvPicPr>
          <p:nvPr/>
        </p:nvPicPr>
        <p:blipFill>
          <a:blip r:embed="rId1"/>
          <a:srcRect l="9180" r="9180" t="0" b="0"/>
          <a:stretch/>
        </p:blipFill>
        <p:spPr>
          <a:xfrm>
            <a:off x="7818120" y="566928"/>
            <a:ext cx="3822192" cy="46817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5248656"/>
            <a:ext cx="3822192" cy="1170432"/>
          </a:xfrm>
          <a:prstGeom prst="rect">
            <a:avLst/>
          </a:prstGeom>
          <a:solidFill>
            <a:srgbClr val="0B2239">
              <a:alpha val="96000"/>
            </a:srgbClr>
          </a:solidFill>
          <a:ln w="12700">
            <a:solidFill>
              <a:srgbClr val="0B2239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ACCOUNTING FIRM PROPOSAL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987552"/>
            <a:ext cx="6035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서비스에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생산성을 더하는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쉬운 방법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8368" y="3182112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직원은 업로드만 하고, 회사는 정리된 자료를 받도록.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이전 단계의 비효율을 줄이는 경비 자동화 제안서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40965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1513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편의성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78608" y="409651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88336" y="415137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전달 품질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73168" y="409651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41513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차별화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368" y="4800600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귀사의 기존 회계 서비스 안에 자연스럽게 들어갈 수 있는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실무형 자동화 도구로 설계했습니다.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92440" y="5486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2440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회계펌 고객사 생산성 향상용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Pre-Accounting Automation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 for partner discussion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회계는 마지막 단계인데, 비효율은 그 전 단계에서 시작됩니다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고객사는 회계 시스템보다 먼저, 자료 수집과 정리 단계에서 시간을 잃고 있습니다.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480060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고객사에서 자주 벌어지는 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11480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영수증을 따로 모아 두었다가 나중에 정리합니다.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보고용 Excel 형식이 제각각이어서 다시 손봐야 합니다.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증빙과 정리자료가 늦게 모여 월말 마감이 밀립니다.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회계팀 또는 회계펌이 입력 전 정리 작업을 한 번 더 수행합니다.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5413248"/>
            <a:ext cx="4389120" cy="329184"/>
          </a:xfrm>
          <a:prstGeom prst="rect">
            <a:avLst/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54864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문제: 회계가 아니라 회계 이전 단계의 반복 정리 업무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70448" y="1810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흐름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70448" y="2761488"/>
            <a:ext cx="1234440" cy="1325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29992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40156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 보관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68896" y="3246120"/>
            <a:ext cx="256032" cy="310896"/>
          </a:xfrm>
          <a:prstGeom prst="chevron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2761488"/>
            <a:ext cx="1234440" cy="1325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29992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정리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340156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작성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23376" y="3246120"/>
            <a:ext cx="256032" cy="310896"/>
          </a:xfrm>
          <a:prstGeom prst="chevron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79408" y="2761488"/>
            <a:ext cx="1234440" cy="1325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29992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560" y="340156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확인/수정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277856" y="3246120"/>
            <a:ext cx="256032" cy="310896"/>
          </a:xfrm>
          <a:prstGeom prst="chevron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33888" y="2761488"/>
            <a:ext cx="1234440" cy="1325880"/>
          </a:xfrm>
          <a:prstGeom prst="roundRect">
            <a:avLst>
              <a:gd name="adj" fmla="val 5185"/>
            </a:avLst>
          </a:prstGeom>
          <a:solidFill>
            <a:srgbClr val="F0F6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25328" y="29992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0" y="340156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정리 후 입력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16752" y="44988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456285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누락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62672" y="44988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456285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불일치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308592" y="449884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456285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5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70448" y="523036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회계 품질 문제 이전에,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준비 품질 문제가 먼저 발생합니다.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Workflow-based positioning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Expense는 회계 이전 단계를 자동화합니다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하나를 더 파는 것이 아니라, 귀사의 고객 서비스 품질을 높여주는 실무 도구입니다.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019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 흐름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" y="2770632"/>
            <a:ext cx="1243584" cy="13716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99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업로드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 촬영 또는 업로드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3273552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2770632"/>
            <a:ext cx="1243584" cy="1371600"/>
          </a:xfrm>
          <a:prstGeom prst="roundRect">
            <a:avLst>
              <a:gd name="adj" fmla="val 5147"/>
            </a:avLst>
          </a:prstGeom>
          <a:solidFill>
            <a:srgbClr val="EFFAF7"/>
          </a:solidFill>
          <a:ln w="12700">
            <a:solidFill>
              <a:srgbClr val="C7E9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99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금액, 날짜, 상호 정보 정리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94760" y="3273552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1648" y="2770632"/>
            <a:ext cx="1243584" cy="13716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999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보고용 자료 생성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3273552"/>
            <a:ext cx="219456" cy="256032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6128" y="2770632"/>
            <a:ext cx="1243584" cy="1371600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999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전달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준비 자료로 전달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7824" y="4709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" y="5029200"/>
            <a:ext cx="1719072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08406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B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입력 부담 감소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61488" y="502920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508406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B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형식 표준화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53712" y="502920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50840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B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전달 품질 향상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6208" y="5029200"/>
            <a:ext cx="1316736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50840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B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정리 속도 개선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1920240"/>
            <a:ext cx="3255264" cy="3977640"/>
          </a:xfrm>
          <a:prstGeom prst="roundRect">
            <a:avLst>
              <a:gd name="adj" fmla="val 2247"/>
            </a:avLst>
          </a:prstGeom>
          <a:solidFill>
            <a:srgbClr val="F4F1EA"/>
          </a:solidFill>
          <a:ln w="12700">
            <a:solidFill>
              <a:srgbClr val="E6DDCF"/>
            </a:solidFill>
            <a:prstDash val="solid"/>
          </a:ln>
        </p:spPr>
      </p:sp>
      <p:pic>
        <p:nvPicPr>
          <p:cNvPr id="32" name="Image 0" descr="/mnt/data/expense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276856"/>
            <a:ext cx="2852928" cy="190195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467344" y="4517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사용자는 어렵게 배울 필요가 없습니다.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467344" y="49194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또는 업로드 -&gt; 자동 정리 -&gt; 제출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정도로 단순해야 실제 사용률이 올라갑니다.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Employee-friendly workflow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YOUR FIRM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회계펌이 이 도구를 써야 하는 이유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포인트는 소프트웨어 판매 수익이 아니라, 고객 서비스 경쟁력과 확장성입니다.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3493008" cy="3639312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28800"/>
            <a:ext cx="73152" cy="3639312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고객사 서비스 차별화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40864"/>
            <a:ext cx="3182112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회계 처리만이 아니라 실제 업무 생산성 향상 서비스로 포지셔닝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 유지와 신규 제안 시 차별화 메시지 확보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펌과 함께하면 직원 경비 정리가 쉬워집니다"라는 명확한 가치 제시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93008" cy="3639312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828800"/>
            <a:ext cx="73152" cy="363931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9933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자료 정리 품질 표준화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7136" y="2340864"/>
            <a:ext cx="3182112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고객사마다 제각각인 경비 자료 제출 방식 축소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양식과 증빙 자료를 한 번에 확보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또는 분기 마감 시 반복적인 확인 작업 감소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493008" cy="3639312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828800"/>
            <a:ext cx="73152" cy="3639312"/>
          </a:xfrm>
          <a:prstGeom prst="rect">
            <a:avLst/>
          </a:prstGeom>
          <a:solidFill>
            <a:srgbClr val="D39E36"/>
          </a:solidFill>
          <a:ln w="12700">
            <a:solidFill>
              <a:srgbClr val="D39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9933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추가 자동화의 진입점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19872" y="2340864"/>
            <a:ext cx="3182112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Expense 하나로 시작해도 Approval, Invoice, Reporting으로 확장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고객사의 업무 흐름을 이해한 후 생산성 향상 컨설팅으로 연결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장기적으로는 IT 서비스 및 자동화 프로젝트의 출발점 역할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5779008"/>
            <a:ext cx="10698480" cy="384048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8795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정리하면: 귀사의 고객 서비스에 "실행 가능한 생산성 향상 요소"를 추가하는 도구입니다.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leverage &gt; software resale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귀사는 이 도구를 이렇게 활용할 수 있습니다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방식은 하나로 고정할 필요가 없습니다. 고객과 서비스 구조에 맞게 단계적으로 적용할 수 있습니다.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810512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94560"/>
            <a:ext cx="2688336" cy="3474720"/>
          </a:xfrm>
          <a:prstGeom prst="roundRect">
            <a:avLst>
              <a:gd name="adj" fmla="val 2381"/>
            </a:avLst>
          </a:prstGeom>
          <a:solidFill>
            <a:srgbClr val="FCFD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377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Retention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기존 고객사 부가서비스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3273552"/>
            <a:ext cx="2331720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고객사에 업무 편의성을 높여주는 서비스로 제공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직원의 수기 정리 부담을 낮추고 회계자료 품질 향상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관계를 더 끈끈하게 만드는 역할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78224" y="2194560"/>
            <a:ext cx="2688336" cy="3474720"/>
          </a:xfrm>
          <a:prstGeom prst="roundRect">
            <a:avLst>
              <a:gd name="adj" fmla="val 2381"/>
            </a:avLst>
          </a:prstGeom>
          <a:solidFill>
            <a:srgbClr val="FCFD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2377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24528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신규 고객 제안 무기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24528" y="3273552"/>
            <a:ext cx="2331720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고객에게 단순 회계 외에 실질적 운영 지원 요소 제시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"업무가 더 편해지는 회계펌"이라는 인식 형성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제안서와 미팅에서 설명하기 쉬운 차별화 포인트 확보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68896" y="2194560"/>
            <a:ext cx="2688336" cy="3474720"/>
          </a:xfrm>
          <a:prstGeom prst="roundRect">
            <a:avLst>
              <a:gd name="adj" fmla="val 2381"/>
            </a:avLst>
          </a:prstGeom>
          <a:solidFill>
            <a:srgbClr val="FCFD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377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AF4F6"/>
          </a:solidFill>
          <a:ln w="12700">
            <a:solidFill>
              <a:srgbClr val="EA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24323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생산성 향상 대화의 출발점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273552"/>
            <a:ext cx="2331720" cy="5949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Expense에서 시작해 고객사의 다른 반복 업무까지 관찰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추가 자동화나 업무 표준화 논의로 연결 가능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서비스에서 운영 효율화 서비스로 확장하는 기반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Flexible partner usage model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계약보다, 작은 파일럿이 먼저입니다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큰 의사결정보다 3~5개 고객사에 적용 가능성을 함께 확인하는 것이 현실적입니다.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48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파일럿 구조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87552" y="26517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EAF4F6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66544" y="2816352"/>
            <a:ext cx="201168" cy="219456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27249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고객사 선정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사용 시나리오 정리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3639312"/>
            <a:ext cx="91440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8039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2-4주차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66544" y="3803904"/>
            <a:ext cx="201168" cy="219456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37124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업로드 흐름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자료 생성 테스트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462686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5-8주차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66544" y="4791456"/>
            <a:ext cx="201168" cy="219456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47000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사용성 피드백 수집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개선 포인트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18288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048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파일럿에서 확인할 항목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2487168"/>
            <a:ext cx="4617720" cy="102355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 고객사 중 어떤 유형에 가장 잘 맞는지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사용성은 충분히 단순한지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자료 정리 품질이 실제로 개선되는지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 서비스 안에 어떤 방식으로 넣는 것이 자연스러운지</a:t>
            </a:r>
            <a:endParaRPr lang="en-US" sz="1130" dirty="0"/>
          </a:p>
          <a:p>
            <a:pPr marL="177800" indent="-177800">
              <a:buSzPct val="100000"/>
              <a:buChar char="•"/>
            </a:pPr>
            <a:r>
              <a:rPr lang="en-US" sz="113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추가 자동화 논의가 가능한 고객군이 있는지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419088" y="5230368"/>
            <a:ext cx="4572000" cy="475488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53400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판매가 아니라 검증입니다.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고객에게 실제 가치가 있는지 함께 보는 단계입니다.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first, structure later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5120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시작은 Expense지만, 방향은 Automation Suite입니다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435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모든 기능을 한 번에 하려는 것이 아니라, 고객 workflow 안으로 자연스럽게 들어가는 것이 우선입니다.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938528"/>
            <a:ext cx="10954512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834640"/>
            <a:ext cx="1700784" cy="1627632"/>
          </a:xfrm>
          <a:prstGeom prst="roundRect">
            <a:avLst>
              <a:gd name="adj" fmla="val 3933"/>
            </a:avLst>
          </a:prstGeom>
          <a:solidFill>
            <a:srgbClr val="EAF4F6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06324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" y="3456432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 업로드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정리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전달 자료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52928" y="3456432"/>
            <a:ext cx="274320" cy="292608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2834640"/>
            <a:ext cx="1700784" cy="1627632"/>
          </a:xfrm>
          <a:prstGeom prst="roundRect">
            <a:avLst>
              <a:gd name="adj" fmla="val 3933"/>
            </a:avLst>
          </a:prstGeom>
          <a:solidFill>
            <a:srgbClr val="F3F7FB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306324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38144" y="3456432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확인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검토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승인 흐름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38928" y="3456432"/>
            <a:ext cx="274320" cy="292608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2834640"/>
            <a:ext cx="1700784" cy="1627632"/>
          </a:xfrm>
          <a:prstGeom prst="roundRect">
            <a:avLst>
              <a:gd name="adj" fmla="val 3933"/>
            </a:avLst>
          </a:prstGeom>
          <a:solidFill>
            <a:srgbClr val="F3F7FB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306324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Invoice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24144" y="3456432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공급사 문서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자동화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workflow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24928" y="3456432"/>
            <a:ext cx="274320" cy="292608"/>
          </a:xfrm>
          <a:prstGeom prst="chevron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2128" y="2834640"/>
            <a:ext cx="1700784" cy="1627632"/>
          </a:xfrm>
          <a:prstGeom prst="roundRect">
            <a:avLst>
              <a:gd name="adj" fmla="val 3933"/>
            </a:avLst>
          </a:prstGeom>
          <a:solidFill>
            <a:srgbClr val="F3F7FB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306324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Reporting / 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10144" y="3456432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요약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보고서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기능 확장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" y="4882896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제품을 크게 보이게 만드는 것이 아니라,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 고객 서비스 안에서 실제로 작동하는 작은 자동화부터 시작하는 것입니다.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15400" y="6437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793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workflow first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D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제안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115568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3-5개 고객사에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가능성부터 보겠습니다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4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계약보다, 실제 고객에게 가치가 있는지부터 확인하는 것이 빠릅니다.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E4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미팅에서 적용 가능 고객 유형과 파일럿 범위를 함께 정리해보면 좋겠습니다.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5303520" cy="1426464"/>
          </a:xfrm>
          <a:prstGeom prst="roundRect">
            <a:avLst>
              <a:gd name="adj" fmla="val 5128"/>
            </a:avLst>
          </a:prstGeom>
          <a:solidFill>
            <a:srgbClr val="17324D"/>
          </a:solidFill>
          <a:ln w="12700">
            <a:solidFill>
              <a:srgbClr val="2B4A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4736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미팅에서 논의하고 싶은 3가지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어떤 고객사에 가장 잘 맞는가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귀사 서비스 안에 어떻게 넣을 수 있는가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소규모 파일럿을 어떻게 설계할 것인가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078992"/>
            <a:ext cx="4114800" cy="4407408"/>
          </a:xfrm>
          <a:prstGeom prst="roundRect">
            <a:avLst>
              <a:gd name="adj" fmla="val 177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5824" y="1517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D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35824" y="1938528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서비스의 다음 경쟁력은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처리만이 아니라,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고객사의 실제 업무 흐름을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더 효율적으로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바꿔줄 수 있는가에 있습니다.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35824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Expense는 그 첫 번째 문으로 설계했습니다.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21040" y="64282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EZWorks Expense | Confidential draft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회계펌 제안서 - EZWorks Expense</dc:title>
  <dc:subject>Accounting firm proposal</dc:subject>
  <dc:creator>OpenAI</dc:creator>
  <cp:lastModifiedBy>OpenAI</cp:lastModifiedBy>
  <cp:revision>1</cp:revision>
  <dcterms:created xsi:type="dcterms:W3CDTF">2026-03-06T21:32:20Z</dcterms:created>
  <dcterms:modified xsi:type="dcterms:W3CDTF">2026-03-06T21:32:20Z</dcterms:modified>
</cp:coreProperties>
</file>